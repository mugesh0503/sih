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1" y="3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24">
            <a:extLst>
              <a:ext uri="{FF2B5EF4-FFF2-40B4-BE49-F238E27FC236}">
                <a16:creationId xmlns:a16="http://schemas.microsoft.com/office/drawing/2014/main" id="{63B83D3C-350A-1003-284B-A23FA9489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6">
            <a:extLst>
              <a:ext uri="{FF2B5EF4-FFF2-40B4-BE49-F238E27FC236}">
                <a16:creationId xmlns:a16="http://schemas.microsoft.com/office/drawing/2014/main" id="{20EEA8D3-CB81-C88A-84E6-5F0ACDC99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25D15-A712-E4AE-3C57-1EF12B0418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5" name="Subtitle 3">
            <a:extLst>
              <a:ext uri="{FF2B5EF4-FFF2-40B4-BE49-F238E27FC236}">
                <a16:creationId xmlns:a16="http://schemas.microsoft.com/office/drawing/2014/main" id="{03B36C53-E991-9C25-B3FB-E5C8D68B98ED}"/>
              </a:ext>
            </a:extLst>
          </p:cNvPr>
          <p:cNvSpPr txBox="1">
            <a:spLocks/>
          </p:cNvSpPr>
          <p:nvPr/>
        </p:nvSpPr>
        <p:spPr>
          <a:xfrm>
            <a:off x="1245686" y="648614"/>
            <a:ext cx="8534400" cy="1752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69197832-31CC-FA42-98FD-4E841E7E23E5}"/>
              </a:ext>
            </a:extLst>
          </p:cNvPr>
          <p:cNvSpPr txBox="1">
            <a:spLocks/>
          </p:cNvSpPr>
          <p:nvPr/>
        </p:nvSpPr>
        <p:spPr>
          <a:xfrm>
            <a:off x="331286" y="255639"/>
            <a:ext cx="10363200" cy="1294054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DCECF-653D-B3A5-0E7A-E27157014B6E}"/>
              </a:ext>
            </a:extLst>
          </p:cNvPr>
          <p:cNvSpPr txBox="1"/>
          <p:nvPr/>
        </p:nvSpPr>
        <p:spPr>
          <a:xfrm>
            <a:off x="331286" y="2076450"/>
            <a:ext cx="5924550" cy="36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Problem Statement ID – 26005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IN" b="1">
                <a:solidFill>
                  <a:srgbClr val="000000"/>
                </a:solidFill>
                <a:latin typeface="Arial"/>
              </a:rPr>
              <a:t> – Solar Cold Storage               </a:t>
            </a:r>
          </a:p>
          <a:p>
            <a:r>
              <a:rPr lang="en-IN" b="1">
                <a:solidFill>
                  <a:srgbClr val="000000"/>
                </a:solidFill>
                <a:latin typeface="Arial"/>
              </a:rPr>
              <a:t>     for Vendors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IN" b="1">
                <a:solidFill>
                  <a:srgbClr val="000000"/>
                </a:solidFill>
                <a:latin typeface="Arial"/>
              </a:rPr>
              <a:t> –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>
                <a:solidFill>
                  <a:srgbClr val="000000"/>
                </a:solidFill>
                <a:latin typeface="Arial"/>
              </a:rPr>
              <a:t>Agriculture &amp; Rural Development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IN" b="1">
                <a:solidFill>
                  <a:srgbClr val="000000"/>
                </a:solidFill>
                <a:latin typeface="Arial"/>
              </a:rPr>
              <a:t> –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Team ID </a:t>
            </a:r>
            <a:r>
              <a:rPr lang="en-IN" b="1">
                <a:solidFill>
                  <a:srgbClr val="000000"/>
                </a:solidFill>
                <a:latin typeface="Arial"/>
              </a:rPr>
              <a:t>–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>
                <a:solidFill>
                  <a:srgbClr val="000000"/>
                </a:solidFill>
                <a:latin typeface="Arial"/>
              </a:rPr>
              <a:t>Hardware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IN" b="1">
                <a:solidFill>
                  <a:srgbClr val="000000"/>
                </a:solidFill>
                <a:latin typeface="Arial"/>
              </a:rPr>
              <a:t> – Senzo 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0C0D44-7D40-4BA6-422F-E678C4D2C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66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64592"/>
            <a:ext cx="1234440" cy="530352"/>
          </a:xfrm>
          <a:prstGeom prst="ellipse">
            <a:avLst/>
          </a:prstGeom>
          <a:noFill/>
          <a:ln w="19050">
            <a:solidFill>
              <a:srgbClr val="5F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2194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000000"/>
                </a:solidFill>
                <a:latin typeface="Arial"/>
              </a:rPr>
              <a:t>Senzo
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000000"/>
                </a:solidFill>
                <a:latin typeface="Times New Roman"/>
              </a:rPr>
              <a:t>SOLAR COLD STORAGE FOR 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60119"/>
            <a:ext cx="3703320" cy="2672237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hevron 8"/>
          <p:cNvSpPr/>
          <p:nvPr/>
        </p:nvSpPr>
        <p:spPr>
          <a:xfrm>
            <a:off x="411480" y="960120"/>
            <a:ext cx="2036826" cy="502920"/>
          </a:xfrm>
          <a:prstGeom prst="chevron">
            <a:avLst/>
          </a:prstGeom>
          <a:solidFill>
            <a:srgbClr val="498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042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291839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Post-harvest loss: Fresh vegetables can lose quality when stored without temperature control.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Power &amp; access: Unreliable electricity, difficult terrain and transport delays make fixed cold storage difficult.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Vendor constraint: Pushcart and small vendors need compact storage that moves with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960120"/>
            <a:ext cx="3703320" cy="2672236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4224528" y="960120"/>
            <a:ext cx="2036826" cy="502920"/>
          </a:xfrm>
          <a:prstGeom prst="chevron">
            <a:avLst/>
          </a:prstGeom>
          <a:solidFill>
            <a:srgbClr val="498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5696" y="1042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Arial"/>
              </a:rPr>
              <a:t>Our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554480"/>
            <a:ext cx="3291839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SolarChill</a:t>
            </a:r>
            <a:r>
              <a:rPr dirty="0"/>
              <a:t>: A compact solar-powered active cold-storage box designed for vendors.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Target range: Maintain the produce zone around 4–8°C.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Energy concept: 40W solar panel + PWM controller + 12V/20Ah battery buffer.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960119"/>
            <a:ext cx="3703320" cy="2652745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8046720" y="960120"/>
            <a:ext cx="2916248" cy="502920"/>
          </a:xfrm>
          <a:prstGeom prst="chevron">
            <a:avLst/>
          </a:prstGeom>
          <a:solidFill>
            <a:srgbClr val="498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042416"/>
            <a:ext cx="25774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  <a:latin typeface="Arial"/>
              </a:rPr>
              <a:t>Innovation/Uniqueness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554480"/>
            <a:ext cx="3291839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Day-active cooling: Compressor operation is concentrated in sunlight hours.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Insulation-first: 75mm insulation reduces overnight heat gain.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Low-cost target: Project concept targets about ₹8,500.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Vendor-first: Designed for individual pushcart/dairy vendors rather than only large cold rooms.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78732"/>
            <a:ext cx="7315200" cy="2523744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571500" y="3960434"/>
            <a:ext cx="2331720" cy="502920"/>
          </a:xfrm>
          <a:prstGeom prst="chevron">
            <a:avLst/>
          </a:prstGeom>
          <a:solidFill>
            <a:srgbClr val="498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" y="3634740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1" i="0" u="none" dirty="0">
              <a:solidFill>
                <a:srgbClr val="FFFFFF"/>
              </a:solidFill>
              <a:latin typeface="Arial"/>
            </a:endParaRPr>
          </a:p>
          <a:p>
            <a:pPr algn="l"/>
            <a:endParaRPr lang="en-IN" sz="1600" b="1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600" b="1" i="0" u="none" dirty="0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69037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Solar input: 40W panel supplies daytime energy.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Cooling: 12V DC mini-compressor provides active cooling.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Insulation: 75mm insulated box reduces heat gain and supports cold retention.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Monitoring: Temperature measurement verifies the 4–8°C operating target.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Portable form: Designed as a vendor-level mini cold-storage unit.</a:t>
            </a:r>
          </a:p>
        </p:txBody>
      </p:sp>
      <p:pic>
        <p:nvPicPr>
          <p:cNvPr id="24" name="Picture 23" descr="tmp_1400066549827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2" y="3778732"/>
            <a:ext cx="3383280" cy="2331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9B2894-2312-9B44-9776-49ADE4216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846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64592"/>
            <a:ext cx="1234440" cy="530352"/>
          </a:xfrm>
          <a:prstGeom prst="ellipse">
            <a:avLst/>
          </a:prstGeom>
          <a:noFill/>
          <a:ln w="19050">
            <a:solidFill>
              <a:srgbClr val="5F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2194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000000"/>
                </a:solidFill>
                <a:latin typeface="Arial"/>
              </a:rPr>
              <a:t>Senzo
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2788920" cy="4206239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hevron 8"/>
          <p:cNvSpPr/>
          <p:nvPr/>
        </p:nvSpPr>
        <p:spPr>
          <a:xfrm>
            <a:off x="457199" y="1842024"/>
            <a:ext cx="1533906" cy="594360"/>
          </a:xfrm>
          <a:prstGeom prst="chevron">
            <a:avLst/>
          </a:prstGeom>
          <a:solidFill>
            <a:srgbClr val="498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2377439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lang="en-IN" sz="1400" b="1" dirty="0">
                <a:solidFill>
                  <a:srgbClr val="FFFFFF"/>
                </a:solidFill>
                <a:latin typeface="Arial"/>
              </a:rPr>
              <a:t>Hardware &amp;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lang="en-IN" sz="1400" b="1" dirty="0">
                <a:solidFill>
                  <a:srgbClr val="FFFFFF"/>
                </a:solidFill>
                <a:latin typeface="Arial"/>
              </a:rPr>
              <a:t> Software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40W Solar Panel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PWM Charge Controller 15A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12V / 20Ah Battery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12V DC Compressor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75mm Insulated Box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 dirty="0"/>
              <a:t>• Temperature Sensor</a:t>
            </a:r>
          </a:p>
        </p:txBody>
      </p:sp>
      <p:pic>
        <p:nvPicPr>
          <p:cNvPr id="12" name="Picture 11" descr="tmp_140006654978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8183879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3776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234A7D"/>
                </a:solidFill>
                <a:latin typeface="Arial"/>
              </a:rPr>
              <a:t>FLOW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B87BA-860F-A746-EA52-B3DB99AD1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64592"/>
            <a:ext cx="1234440" cy="530352"/>
          </a:xfrm>
          <a:prstGeom prst="ellipse">
            <a:avLst/>
          </a:prstGeom>
          <a:noFill/>
          <a:ln w="19050">
            <a:solidFill>
              <a:srgbClr val="5F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2194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000000"/>
                </a:solidFill>
                <a:latin typeface="Arial"/>
              </a:rPr>
              <a:t>Senzo
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7406640" cy="1691640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06984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>
                <a:solidFill>
                  <a:srgbClr val="000000"/>
                </a:solidFill>
                <a:latin typeface="Arial"/>
              </a:rPr>
              <a:t>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417320"/>
            <a:ext cx="700430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Compact &amp; Affordable: Built from locally available/off-the-shelf components.</a:t>
            </a:r>
          </a:p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Energy Source: Uses solar generation with a battery buffer.</a:t>
            </a:r>
          </a:p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Simple Cooling: 12V DC compressor and insulated enclosure.</a:t>
            </a:r>
          </a:p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Prototype Build: Wiring and temperature tests can be performed at small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88920"/>
            <a:ext cx="7406640" cy="1691640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9864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>
                <a:solidFill>
                  <a:srgbClr val="000000"/>
                </a:solidFill>
                <a:latin typeface="Arial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46120"/>
            <a:ext cx="700430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Monsoon / Cloud Cover: Lower solar generation may reduce cooling time.</a:t>
            </a:r>
          </a:p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Temperature Drift: Weak insulation can increase heat gain.</a:t>
            </a:r>
          </a:p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Battery Ageing: Lead-acid battery has a finite service life.</a:t>
            </a:r>
          </a:p>
          <a:p>
            <a:pPr>
              <a:spcAft>
                <a:spcPts val="300"/>
              </a:spcAft>
              <a:defRPr sz="1300">
                <a:latin typeface="Arial"/>
              </a:defRPr>
            </a:pPr>
            <a:r>
              <a:t>• User Adoption: Daily operation should remain simple.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17720"/>
            <a:ext cx="7406640" cy="1691640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>
                <a:solidFill>
                  <a:srgbClr val="000000"/>
                </a:solidFill>
                <a:latin typeface="Arial"/>
              </a:rPr>
              <a:t>COMMERCIAL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074920"/>
            <a:ext cx="700430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Affordable Production: Target project cost is around ₹8,500.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Vendor Market: Designed around small individual sellers.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Multiple Uses: Vegetables, fruits and appropriate dairy applications.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Scalable Product: Can evolve from mini prototype to larger vendor units.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Arial"/>
              </a:rPr>
              <a:t>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246120" cy="777240"/>
          </a:xfrm>
          <a:prstGeom prst="roundRect">
            <a:avLst/>
          </a:prstGeom>
          <a:solidFill>
            <a:srgbClr val="E2EBF5"/>
          </a:solidFill>
          <a:ln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Arial"/>
              </a:rPr>
              <a:t>Daytime Cooling: Use solar energy when 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97480"/>
            <a:ext cx="3246120" cy="777240"/>
          </a:xfrm>
          <a:prstGeom prst="roundRect">
            <a:avLst/>
          </a:prstGeom>
          <a:solidFill>
            <a:srgbClr val="E2EBF5"/>
          </a:solidFill>
          <a:ln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Arial"/>
              </a:rPr>
              <a:t>Thermal Retention: Use thick insulation to reduce night-time 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749039"/>
            <a:ext cx="3246120" cy="777240"/>
          </a:xfrm>
          <a:prstGeom prst="roundRect">
            <a:avLst/>
          </a:prstGeom>
          <a:solidFill>
            <a:srgbClr val="E2EBF5"/>
          </a:solidFill>
          <a:ln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388620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Arial"/>
              </a:rPr>
              <a:t>Testing: Measure temperature, cooling time and energy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800600"/>
            <a:ext cx="3246120" cy="777240"/>
          </a:xfrm>
          <a:prstGeom prst="roundRect">
            <a:avLst/>
          </a:prstGeom>
          <a:solidFill>
            <a:srgbClr val="E2EBF5"/>
          </a:solidFill>
          <a:ln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493776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Arial"/>
              </a:rPr>
              <a:t>Iteration: Improve enclosure and control based on measured results.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32774-939F-F724-F5AC-27130A99E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110" y="52414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64592"/>
            <a:ext cx="1234440" cy="530352"/>
          </a:xfrm>
          <a:prstGeom prst="ellipse">
            <a:avLst/>
          </a:prstGeom>
          <a:noFill/>
          <a:ln w="19050">
            <a:solidFill>
              <a:srgbClr val="5F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2194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000000"/>
                </a:solidFill>
                <a:latin typeface="Arial"/>
              </a:rPr>
              <a:t>Senzo
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7"/>
            <a:ext cx="3657600" cy="2404872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788" y="111628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 dirty="0">
                <a:solidFill>
                  <a:srgbClr val="000000"/>
                </a:solidFill>
                <a:latin typeface="Arial"/>
              </a:rPr>
              <a:t>DIRECT IMPACT ON TARGET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371600"/>
            <a:ext cx="325526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latin typeface="Arial"/>
              </a:defRPr>
            </a:pPr>
            <a:endParaRPr lang="en-US" dirty="0"/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lang="en-US" dirty="0"/>
              <a:t>• Reduced spoilage: Better temperature control can protect perishable produce.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Longer selling window: Cooling can support longer selling hours.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Portable storage: Brings cold storage closer to mobile vendors.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Food quality: Helps keep produce cooler during the selling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47018"/>
            <a:ext cx="3657600" cy="2307166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04088" y="3753362"/>
            <a:ext cx="300473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 dirty="0">
                <a:solidFill>
                  <a:srgbClr val="000000"/>
                </a:solidFill>
                <a:latin typeface="Arial"/>
              </a:rPr>
              <a:t>STRATEGIC IMPACT</a:t>
            </a:r>
            <a:endParaRPr lang="en-IN" sz="1500" b="1" i="0" u="sng" dirty="0">
              <a:solidFill>
                <a:srgbClr val="000000"/>
              </a:solidFill>
              <a:latin typeface="Arial"/>
            </a:endParaRPr>
          </a:p>
          <a:p>
            <a:pPr algn="ctr"/>
            <a:endParaRPr lang="en-IN" sz="1500" b="1" u="sng" dirty="0">
              <a:solidFill>
                <a:srgbClr val="000000"/>
              </a:solidFill>
              <a:latin typeface="Arial"/>
            </a:endParaRPr>
          </a:p>
          <a:p>
            <a:pPr algn="ctr"/>
            <a:endParaRPr sz="1500" b="1" i="0" u="sng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8356" y="4045969"/>
            <a:ext cx="325526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latin typeface="Arial"/>
              </a:defRPr>
            </a:pPr>
            <a:endParaRPr lang="en-IN" dirty="0"/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Decentralized cooling: Moves beyond dependence on fixed cold rooms.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Solar operation: Uses renewable daytime energy.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Local fabrication: Supports a simple prototype using accessible components.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dirty="0"/>
              <a:t>• Future growth: Can be adapted for different vendor capacities.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024126"/>
            <a:ext cx="3474720" cy="2404872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0241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>
                <a:solidFill>
                  <a:srgbClr val="000000"/>
                </a:solidFill>
                <a:latin typeface="Arial"/>
              </a:rPr>
              <a:t>ECONOMIC &amp; STRATEGIC 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371600"/>
            <a:ext cx="307238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Arial"/>
              </a:defRPr>
            </a:pPr>
            <a:endParaRPr lang="en-IN" dirty="0"/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rPr dirty="0"/>
              <a:t>• Low target cost: Project concept targets approximately ₹8,500.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rPr dirty="0"/>
              <a:t>• Vendor-focused: </a:t>
            </a:r>
            <a:r>
              <a:rPr sz="1200" dirty="0"/>
              <a:t>Individual</a:t>
            </a:r>
            <a:r>
              <a:rPr dirty="0"/>
              <a:t> sellers can use a compact cold-storage </a:t>
            </a:r>
            <a:r>
              <a:rPr sz="1200" dirty="0"/>
              <a:t>unit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rPr dirty="0"/>
              <a:t>• Energy saving concept: Day-active cooling + insulation avoids unnecessary night-time </a:t>
            </a:r>
            <a:r>
              <a:rPr sz="1200" dirty="0"/>
              <a:t>operation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rPr dirty="0"/>
              <a:t>• Scalability: Design can be expanded after prototype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024126"/>
            <a:ext cx="3474720" cy="2404872"/>
          </a:xfrm>
          <a:prstGeom prst="roundRect">
            <a:avLst/>
          </a:prstGeom>
          <a:solidFill>
            <a:srgbClr val="E2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0723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sng">
                <a:solidFill>
                  <a:srgbClr val="000000"/>
                </a:solidFill>
                <a:latin typeface="Arial"/>
              </a:rPr>
              <a:t>PROTOTYPE SUCCESS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371600"/>
            <a:ext cx="3072384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latin typeface="Arial"/>
              </a:defRPr>
            </a:pPr>
            <a:endParaRPr lang="en-US" dirty="0"/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endParaRPr lang="en-US" dirty="0"/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lang="en-US" dirty="0"/>
              <a:t>• Temperature: Target 4–8°C.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lang="en-US" dirty="0"/>
              <a:t>• Cooling time: Measure time required to reach target.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lang="en-US" dirty="0"/>
              <a:t>• Energy use: Measure solar/battery consumption.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rPr lang="en-US" dirty="0"/>
              <a:t>• Retention: Check overnight temperature stability.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24F4177-A757-7592-FE9E-8821E1E8E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1332"/>
            <a:ext cx="2033450" cy="9601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BBAB97-FD0E-7ED3-615F-29E74451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47" y="3647018"/>
            <a:ext cx="7114033" cy="3161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8555FEDB-7EDE-5D50-F400-EC4F671C7310}"/>
              </a:ext>
            </a:extLst>
          </p:cNvPr>
          <p:cNvSpPr/>
          <p:nvPr/>
        </p:nvSpPr>
        <p:spPr>
          <a:xfrm>
            <a:off x="220980" y="205740"/>
            <a:ext cx="105156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497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C364466-4220-7AB2-DD26-D7D951DB6DC6}"/>
              </a:ext>
            </a:extLst>
          </p:cNvPr>
          <p:cNvSpPr txBox="1"/>
          <p:nvPr/>
        </p:nvSpPr>
        <p:spPr>
          <a:xfrm>
            <a:off x="220980" y="20574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2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5A9C8441-AFF5-4484-C165-638DED42D5B4}"/>
              </a:ext>
            </a:extLst>
          </p:cNvPr>
          <p:cNvSpPr txBox="1"/>
          <p:nvPr/>
        </p:nvSpPr>
        <p:spPr>
          <a:xfrm>
            <a:off x="1455420" y="1874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ANALYSIS</a:t>
            </a:r>
            <a:endParaRPr lang="en-US" sz="3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8F6ECE0-6141-5589-4205-F61A4D9ACB9D}"/>
              </a:ext>
            </a:extLst>
          </p:cNvPr>
          <p:cNvSpPr txBox="1"/>
          <p:nvPr/>
        </p:nvSpPr>
        <p:spPr>
          <a:xfrm>
            <a:off x="220980" y="9372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80339464-F716-6422-22A1-8C27476B870C}"/>
              </a:ext>
            </a:extLst>
          </p:cNvPr>
          <p:cNvSpPr txBox="1"/>
          <p:nvPr/>
        </p:nvSpPr>
        <p:spPr>
          <a:xfrm>
            <a:off x="541020" y="10744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References</a:t>
            </a:r>
            <a:endParaRPr lang="en-US" sz="20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6C3E283C-9789-05D9-347E-40E8068A18A7}"/>
              </a:ext>
            </a:extLst>
          </p:cNvPr>
          <p:cNvSpPr txBox="1"/>
          <p:nvPr/>
        </p:nvSpPr>
        <p:spPr>
          <a:xfrm>
            <a:off x="541020" y="1623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F8CF9E36-3E91-8F7F-221F-05AE25A4D6B8}"/>
              </a:ext>
            </a:extLst>
          </p:cNvPr>
          <p:cNvSpPr txBox="1"/>
          <p:nvPr/>
        </p:nvSpPr>
        <p:spPr>
          <a:xfrm>
            <a:off x="952500" y="16230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refrigeration research (verified): 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Sidney, Prabakaran, Kim &amp; Dhasan (2021/2022) — “A novel solar-powered milk cooling refrigeration unit with cold thermal energy storage for rural application,” published in Environmental Science and Pollution Research.</a:t>
            </a:r>
            <a:r>
              <a:rPr lang="en-US" sz="1300" i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(DOI: 10.1007/s11356-021-16852-5)</a:t>
            </a:r>
            <a:endParaRPr lang="en-US" sz="14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E60A4A0-E701-9F2F-1942-30654DD94520}"/>
              </a:ext>
            </a:extLst>
          </p:cNvPr>
          <p:cNvSpPr txBox="1"/>
          <p:nvPr/>
        </p:nvSpPr>
        <p:spPr>
          <a:xfrm>
            <a:off x="541020" y="2674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9006094-4129-DB9C-9957-31DC6E07E735}"/>
              </a:ext>
            </a:extLst>
          </p:cNvPr>
          <p:cNvSpPr txBox="1"/>
          <p:nvPr/>
        </p:nvSpPr>
        <p:spPr>
          <a:xfrm>
            <a:off x="952500" y="26746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Promethean Power Systems: 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thermal-battery milk chilling deployments across rural India (company/product reference, not a journal paper).</a:t>
            </a:r>
            <a:r>
              <a:rPr lang="en-US" sz="1300" i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(promethean.co.in)</a:t>
            </a:r>
            <a:endParaRPr lang="en-US" sz="14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D8721B39-9949-7BDD-6FC4-346F801ECA85}"/>
              </a:ext>
            </a:extLst>
          </p:cNvPr>
          <p:cNvSpPr txBox="1"/>
          <p:nvPr/>
        </p:nvSpPr>
        <p:spPr>
          <a:xfrm>
            <a:off x="541020" y="37261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3A2857B0-AACD-155D-5FDD-0B314A9AA27C}"/>
              </a:ext>
            </a:extLst>
          </p:cNvPr>
          <p:cNvSpPr txBox="1"/>
          <p:nvPr/>
        </p:nvSpPr>
        <p:spPr>
          <a:xfrm>
            <a:off x="952500" y="37261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Ecozen Solutions: 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Ecofrost solar cold-storage systems for agricultural applications (company/product reference).</a:t>
            </a:r>
            <a:r>
              <a:rPr lang="en-US" sz="1300" i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(ecozensolutions.com)</a:t>
            </a:r>
            <a:endParaRPr lang="en-US" sz="14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7E79E4E3-F213-1646-D50C-7760A459FA74}"/>
              </a:ext>
            </a:extLst>
          </p:cNvPr>
          <p:cNvSpPr txBox="1"/>
          <p:nvPr/>
        </p:nvSpPr>
        <p:spPr>
          <a:xfrm>
            <a:off x="541020" y="4777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78CAD402-6D88-D37D-ECE5-69EAE29B284E}"/>
              </a:ext>
            </a:extLst>
          </p:cNvPr>
          <p:cNvSpPr txBox="1"/>
          <p:nvPr/>
        </p:nvSpPr>
        <p:spPr>
          <a:xfrm>
            <a:off x="952500" y="47777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Madras Tan90 (Tan90 Thermal Solutions): 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solar cold-storage work using phase-change materials; incubated via Nirmaan, IIT Madras's pre-incubator (startup reference, not a journal paper).</a:t>
            </a:r>
            <a:r>
              <a:rPr lang="en-US" sz="1300" i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(tan90thermal.com)</a:t>
            </a:r>
            <a:endParaRPr lang="en-US" sz="14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6143927-73F8-A481-1FA2-512D8C038685}"/>
              </a:ext>
            </a:extLst>
          </p:cNvPr>
          <p:cNvSpPr txBox="1"/>
          <p:nvPr/>
        </p:nvSpPr>
        <p:spPr>
          <a:xfrm>
            <a:off x="541020" y="58293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visual references  • 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SolarChill concept</a:t>
            </a:r>
            <a:endParaRPr lang="en-US" sz="15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9ECDB6A0-8951-1B05-75B2-3721F0FB33F9}"/>
              </a:ext>
            </a:extLst>
          </p:cNvPr>
          <p:cNvSpPr txBox="1"/>
          <p:nvPr/>
        </p:nvSpPr>
        <p:spPr>
          <a:xfrm>
            <a:off x="5935980" y="63779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Senzo Tech  |  Team ID 26005  |  SMART INDIA HACKATHON 2026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6BA358B-3913-76DE-D736-BF9ACFC0C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855" y="205740"/>
            <a:ext cx="2033450" cy="960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864</Words>
  <Application>Microsoft Office PowerPoint</Application>
  <PresentationFormat>Widescreen</PresentationFormat>
  <Paragraphs>115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Ilavarasi I</cp:lastModifiedBy>
  <cp:revision>10</cp:revision>
  <dcterms:created xsi:type="dcterms:W3CDTF">2013-01-27T09:14:16Z</dcterms:created>
  <dcterms:modified xsi:type="dcterms:W3CDTF">2026-09-19T10:34:21Z</dcterms:modified>
  <cp:category/>
</cp:coreProperties>
</file>